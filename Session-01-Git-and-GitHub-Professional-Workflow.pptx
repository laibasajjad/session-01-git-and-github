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unnel Sans Bold"/>
      <p:regular r:id="rId201314"/>
    </p:embeddedFont>
    <p:embeddedFont>
      <p:font typeface="Funnel Sans"/>
      <p:regular r:id="rId201315"/>
    </p:embeddedFont>
    <p:embeddedFont>
      <p:font typeface="Funnel Sans SemiBold"/>
      <p:regular r:id="rId201316"/>
    </p:embeddedFont>
    <p:embeddedFont>
      <p:font typeface="Mona Sans Bold"/>
      <p:regular r:id="rId201317"/>
    </p:embeddedFont>
    <p:embeddedFont>
      <p:font typeface="Mona Sans Black"/>
      <p:regular r:id="rId201318"/>
    </p:embeddedFont>
    <p:embeddedFont>
      <p:font typeface="Mona Sans"/>
      <p:regular r:id="rId201319"/>
    </p:embeddedFont>
    <p:embeddedFont>
      <p:font typeface="Mona Sans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.png"/><Relationship Id="rId14" Type="http://schemas.openxmlformats.org/officeDocument/2006/relationships/image" Target="../media/image-4-2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.png"/><Relationship Id="rId18" Type="http://schemas.openxmlformats.org/officeDocument/2006/relationships/image" Target="../media/image-4-2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074" cy="68580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53" y="799207"/>
            <a:ext cx="3944541" cy="5259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955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Session 01 — Git &amp; GitHub: Professional Workflow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6029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Week 1 · Session 1 of 18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275336"/>
            <a:ext cx="204841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6765" y="4331990"/>
            <a:ext cx="243119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HANDS-ON, NOT LECTURE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074" cy="68580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9" y="783233"/>
            <a:ext cx="3968551" cy="52915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9573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Session Goal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266527"/>
            <a:ext cx="690644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By the end of this session, every intern will personally: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1665089"/>
            <a:ext cx="812184" cy="9746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5043" y="1827510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Open a PR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185043" y="2165052"/>
            <a:ext cx="534517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Submit a real Pull Request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2639715"/>
            <a:ext cx="812184" cy="9746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5043" y="2802136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Review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185043" y="3139678"/>
            <a:ext cx="534517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a teammate's PR &amp; leave a comment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3614341"/>
            <a:ext cx="812184" cy="9746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5043" y="3776762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Resolve Conflict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185043" y="4114304"/>
            <a:ext cx="534517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Fix a real merge conflict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4588966"/>
            <a:ext cx="812184" cy="9746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85043" y="4751388"/>
            <a:ext cx="534517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Merge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185043" y="5088930"/>
            <a:ext cx="534517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Successfully merge the PR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233360" y="5720556"/>
            <a:ext cx="6296860" cy="587871"/>
          </a:xfrm>
          <a:prstGeom prst="roundRect">
            <a:avLst>
              <a:gd name="adj" fmla="val 11605"/>
            </a:avLst>
          </a:prstGeom>
          <a:solidFill>
            <a:srgbClr val="404040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778" y="5923558"/>
            <a:ext cx="202996" cy="16242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761191" y="5900638"/>
            <a:ext cx="6216197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Branch → Commit → Push → PR → Review → Conflict → Resolve → Merge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92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This Matters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9788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Git/GitHub is a universal day-one engineering skill.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612926"/>
            <a:ext cx="5476043" cy="2147292"/>
          </a:xfrm>
          <a:prstGeom prst="roundRect">
            <a:avLst>
              <a:gd name="adj" fmla="val 6338"/>
            </a:avLst>
          </a:prstGeom>
          <a:solidFill>
            <a:srgbClr val="0F766E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280193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Solo Git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286224"/>
            <a:ext cx="509802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commits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history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branches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local changes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80193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Collaborative GitHub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286224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Pull Requests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code review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merge conflicts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team workflow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97284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40404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240536"/>
            <a:ext cx="236234" cy="1890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5723" y="520908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Today = adding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collaborative layer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the Git skills you already have.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Core Vocabulary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85180"/>
            <a:ext cx="10868745" cy="90368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5563" y="1624013"/>
            <a:ext cx="225915" cy="2259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02918" y="1454845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402918" y="176212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 folder + complete Git history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308820"/>
            <a:ext cx="10868745" cy="903684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5563" y="2647652"/>
            <a:ext cx="225915" cy="22592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402918" y="247848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Commit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1402918" y="278576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saved snapshot of your changes</a:t>
            </a:r>
            <a:endParaRPr lang="en-US" sz="11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332460"/>
            <a:ext cx="10868745" cy="903684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5563" y="3671292"/>
            <a:ext cx="225915" cy="22592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402918" y="350212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Branch</a:t>
            </a:r>
            <a:endParaRPr lang="en-US" sz="1450" dirty="0"/>
          </a:p>
        </p:txBody>
      </p:sp>
      <p:sp>
        <p:nvSpPr>
          <p:cNvPr id="14" name="Text 6"/>
          <p:cNvSpPr/>
          <p:nvPr/>
        </p:nvSpPr>
        <p:spPr>
          <a:xfrm>
            <a:off x="1402918" y="380940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isolated line of development</a:t>
            </a:r>
            <a:endParaRPr lang="en-US" sz="11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356100"/>
            <a:ext cx="10868745" cy="903684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5563" y="4694932"/>
            <a:ext cx="225915" cy="225921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402918" y="452576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Pull Request</a:t>
            </a:r>
            <a:endParaRPr lang="en-US" sz="1450" dirty="0"/>
          </a:p>
        </p:txBody>
      </p:sp>
      <p:sp>
        <p:nvSpPr>
          <p:cNvPr id="18" name="Text 8"/>
          <p:cNvSpPr/>
          <p:nvPr/>
        </p:nvSpPr>
        <p:spPr>
          <a:xfrm>
            <a:off x="1402918" y="483304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request to review and merge your changes</a:t>
            </a:r>
            <a:endParaRPr lang="en-US" sz="11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5379740"/>
            <a:ext cx="10868745" cy="903684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5563" y="5718572"/>
            <a:ext cx="225915" cy="225921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402918" y="554940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Merge Conflict</a:t>
            </a:r>
            <a:endParaRPr lang="en-US" sz="1450" dirty="0"/>
          </a:p>
        </p:txBody>
      </p:sp>
      <p:sp>
        <p:nvSpPr>
          <p:cNvPr id="22" name="Text 10"/>
          <p:cNvSpPr/>
          <p:nvPr/>
        </p:nvSpPr>
        <p:spPr>
          <a:xfrm>
            <a:off x="1402918" y="5856684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When Git cannot automatically combine two sets of changes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878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2-Hour Session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086323" y="1374775"/>
            <a:ext cx="19050" cy="4934248"/>
          </a:xfrm>
          <a:prstGeom prst="roundRect">
            <a:avLst>
              <a:gd name="adj" fmla="val 49999"/>
            </a:avLst>
          </a:prstGeom>
          <a:solidFill>
            <a:srgbClr val="595959"/>
          </a:solidFill>
          <a:ln/>
        </p:spPr>
      </p:sp>
      <p:sp>
        <p:nvSpPr>
          <p:cNvPr id="4" name="Shape 2"/>
          <p:cNvSpPr/>
          <p:nvPr/>
        </p:nvSpPr>
        <p:spPr>
          <a:xfrm>
            <a:off x="5420532" y="1554559"/>
            <a:ext cx="505011" cy="19050"/>
          </a:xfrm>
          <a:prstGeom prst="roundRect">
            <a:avLst>
              <a:gd name="adj" fmla="val 49999"/>
            </a:avLst>
          </a:prstGeom>
          <a:solidFill>
            <a:srgbClr val="595959"/>
          </a:solidFill>
          <a:ln/>
        </p:spPr>
      </p:sp>
      <p:sp>
        <p:nvSpPr>
          <p:cNvPr id="5" name="Shape 3"/>
          <p:cNvSpPr/>
          <p:nvPr/>
        </p:nvSpPr>
        <p:spPr>
          <a:xfrm>
            <a:off x="5906493" y="1374775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404040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69545" y="1406277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1432620"/>
            <a:ext cx="45927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0:00–0:10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1475" y="1785541"/>
            <a:ext cx="45927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Framing</a:t>
            </a:r>
            <a:endParaRPr lang="en-US" sz="1300" dirty="0"/>
          </a:p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Why collaborative Git matters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6152" y="2527697"/>
            <a:ext cx="505011" cy="19050"/>
          </a:xfrm>
          <a:prstGeom prst="roundRect">
            <a:avLst>
              <a:gd name="adj" fmla="val 49999"/>
            </a:avLst>
          </a:prstGeom>
          <a:solidFill>
            <a:srgbClr val="595959"/>
          </a:solidFill>
          <a:ln/>
        </p:spPr>
      </p:sp>
      <p:sp>
        <p:nvSpPr>
          <p:cNvPr id="10" name="Shape 8"/>
          <p:cNvSpPr/>
          <p:nvPr/>
        </p:nvSpPr>
        <p:spPr>
          <a:xfrm>
            <a:off x="5906493" y="2347913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404040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9545" y="2379414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37499" y="2405757"/>
            <a:ext cx="45927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0:10–0:30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937499" y="2758678"/>
            <a:ext cx="45927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Live Demo</a:t>
            </a:r>
            <a:endParaRPr lang="en-US" sz="13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Branch → PR → Review → Conflict → Merge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20532" y="3379887"/>
            <a:ext cx="505011" cy="19050"/>
          </a:xfrm>
          <a:prstGeom prst="roundRect">
            <a:avLst>
              <a:gd name="adj" fmla="val 49999"/>
            </a:avLst>
          </a:prstGeom>
          <a:solidFill>
            <a:srgbClr val="595959"/>
          </a:solidFill>
          <a:ln/>
        </p:spPr>
      </p:sp>
      <p:sp>
        <p:nvSpPr>
          <p:cNvPr id="15" name="Shape 13"/>
          <p:cNvSpPr/>
          <p:nvPr/>
        </p:nvSpPr>
        <p:spPr>
          <a:xfrm>
            <a:off x="5906493" y="3200102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404040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9545" y="3231604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61475" y="3257947"/>
            <a:ext cx="45927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0:30–1:20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1475" y="3610868"/>
            <a:ext cx="45927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Hands-On Replication</a:t>
            </a:r>
            <a:endParaRPr lang="en-US" sz="1300" dirty="0"/>
          </a:p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Everyone performs the workflow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6152" y="4232077"/>
            <a:ext cx="505011" cy="19050"/>
          </a:xfrm>
          <a:prstGeom prst="roundRect">
            <a:avLst>
              <a:gd name="adj" fmla="val 49999"/>
            </a:avLst>
          </a:prstGeom>
          <a:solidFill>
            <a:srgbClr val="595959"/>
          </a:solidFill>
          <a:ln/>
        </p:spPr>
      </p:sp>
      <p:sp>
        <p:nvSpPr>
          <p:cNvPr id="20" name="Shape 18"/>
          <p:cNvSpPr/>
          <p:nvPr/>
        </p:nvSpPr>
        <p:spPr>
          <a:xfrm>
            <a:off x="5906493" y="4052292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404040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9545" y="4083794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937499" y="4110137"/>
            <a:ext cx="45927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1:20–1:45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937499" y="4463058"/>
            <a:ext cx="45927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Everyone Merges</a:t>
            </a:r>
            <a:endParaRPr lang="en-US" sz="13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Resolve conflicts + merge real PRs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20532" y="5084266"/>
            <a:ext cx="505011" cy="19050"/>
          </a:xfrm>
          <a:prstGeom prst="roundRect">
            <a:avLst>
              <a:gd name="adj" fmla="val 49999"/>
            </a:avLst>
          </a:prstGeom>
          <a:solidFill>
            <a:srgbClr val="595959"/>
          </a:solidFill>
          <a:ln/>
        </p:spPr>
      </p:sp>
      <p:sp>
        <p:nvSpPr>
          <p:cNvPr id="25" name="Shape 23"/>
          <p:cNvSpPr/>
          <p:nvPr/>
        </p:nvSpPr>
        <p:spPr>
          <a:xfrm>
            <a:off x="5906493" y="4904482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404040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9545" y="4935984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61475" y="4962327"/>
            <a:ext cx="45927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1:45–2:00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61475" y="5315248"/>
            <a:ext cx="45927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Wrap-Up</a:t>
            </a:r>
            <a:endParaRPr lang="en-US" sz="1300" dirty="0"/>
          </a:p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+ next task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74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Git Command Cheat Sheet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73795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Core Workflow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1475" y="1926630"/>
            <a:ext cx="5221851" cy="2020689"/>
          </a:xfrm>
          <a:prstGeom prst="roundRect">
            <a:avLst>
              <a:gd name="adj" fmla="val 3622"/>
            </a:avLst>
          </a:prstGeom>
          <a:solidFill>
            <a:srgbClr val="252323"/>
          </a:solidFill>
          <a:ln/>
        </p:spPr>
      </p:sp>
      <p:sp>
        <p:nvSpPr>
          <p:cNvPr id="5" name="Text 3"/>
          <p:cNvSpPr/>
          <p:nvPr/>
        </p:nvSpPr>
        <p:spPr>
          <a:xfrm>
            <a:off x="870524" y="2100858"/>
            <a:ext cx="4803754" cy="1672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feature/my-change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feature"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feature/my-change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main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14719" y="1473795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Purpose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14719" y="1906588"/>
            <a:ext cx="5221851" cy="1887538"/>
          </a:xfrm>
          <a:prstGeom prst="rect">
            <a:avLst/>
          </a:prstGeom>
          <a:noFill/>
          <a:ln/>
        </p:spPr>
        <p:txBody>
          <a:bodyPr wrap="square" lIns="0" tIns="6970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Clone the repository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and switch to a new branch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Stage changes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Commit with a message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Push branch to GitHub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Bring main into your branch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14719" y="395476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Useful Commands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14719" y="4407595"/>
            <a:ext cx="5221851" cy="1741984"/>
          </a:xfrm>
          <a:prstGeom prst="roundRect">
            <a:avLst>
              <a:gd name="adj" fmla="val 4201"/>
            </a:avLst>
          </a:prstGeom>
          <a:solidFill>
            <a:srgbClr val="252323"/>
          </a:solidFill>
          <a:ln/>
        </p:spPr>
      </p:sp>
      <p:sp>
        <p:nvSpPr>
          <p:cNvPr id="10" name="Text 8"/>
          <p:cNvSpPr/>
          <p:nvPr/>
        </p:nvSpPr>
        <p:spPr>
          <a:xfrm>
            <a:off x="6523767" y="4581823"/>
            <a:ext cx="4803754" cy="1393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--graph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84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From Branch to Merge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29530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6210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PR, Review &amp; Merge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8610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Commit &amp; Push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92096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Make Changes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4495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Create Branch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94909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Never treat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621" y="0"/>
            <a:ext cx="5029074" cy="68580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0220" y="795635"/>
            <a:ext cx="3949899" cy="5266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9473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Don't Panic at the Conflict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61475" y="1564977"/>
            <a:ext cx="292509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Common Pitfalls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1475" y="2028329"/>
            <a:ext cx="2925094" cy="2305149"/>
          </a:xfrm>
          <a:prstGeom prst="rect">
            <a:avLst/>
          </a:prstGeom>
          <a:noFill/>
          <a:ln/>
        </p:spPr>
        <p:txBody>
          <a:bodyPr wrap="square" lIns="0" tIns="73245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❌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Committing directly to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8F8F8F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❌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Vague commit messages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❌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Working without pulling recent changes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❌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Ignoring review comments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❌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Panicking when conflict markers appear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39590" y="1564977"/>
            <a:ext cx="2925094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When Git Says "CONFLICT"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039590" y="2336602"/>
            <a:ext cx="2925094" cy="1831082"/>
          </a:xfrm>
          <a:prstGeom prst="roundRect">
            <a:avLst>
              <a:gd name="adj" fmla="val 4200"/>
            </a:avLst>
          </a:prstGeom>
          <a:solidFill>
            <a:srgbClr val="252323"/>
          </a:solidFill>
          <a:ln/>
        </p:spPr>
      </p:sp>
      <p:sp>
        <p:nvSpPr>
          <p:cNvPr id="9" name="Text 6"/>
          <p:cNvSpPr/>
          <p:nvPr/>
        </p:nvSpPr>
        <p:spPr>
          <a:xfrm>
            <a:off x="4259255" y="2519660"/>
            <a:ext cx="2485764" cy="1464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changes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their changes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main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39590" y="4367213"/>
            <a:ext cx="292509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Read → Decide → Edit → Remove markers → Add → Commit → Push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5303242"/>
            <a:ext cx="6296860" cy="1005284"/>
          </a:xfrm>
          <a:prstGeom prst="roundRect">
            <a:avLst>
              <a:gd name="adj" fmla="val 7650"/>
            </a:avLst>
          </a:prstGeom>
          <a:solidFill>
            <a:srgbClr val="4040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9" y="5556548"/>
            <a:ext cx="228793" cy="1830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56376" y="5526286"/>
            <a:ext cx="551890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merge conflict is not an error to fear — it is a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decision Git needs you to make.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04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Did You Complete the Workflow?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2356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Today's Success Checklist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307854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Opened a Pull Request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364508"/>
            <a:ext cx="189007" cy="189012"/>
          </a:xfrm>
          <a:prstGeom prst="roundRect">
            <a:avLst>
              <a:gd name="adj" fmla="val 42003"/>
            </a:avLst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1475" y="3676352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Gave a review comment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3733006"/>
            <a:ext cx="189007" cy="189012"/>
          </a:xfrm>
          <a:prstGeom prst="roundRect">
            <a:avLst>
              <a:gd name="adj" fmla="val 42003"/>
            </a:avLst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475" y="404485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Resolved a merge conflict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101505"/>
            <a:ext cx="189007" cy="189012"/>
          </a:xfrm>
          <a:prstGeom prst="roundRect">
            <a:avLst>
              <a:gd name="adj" fmla="val 42003"/>
            </a:avLst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475" y="441334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​"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Successfully merged a PR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470003"/>
            <a:ext cx="189007" cy="189012"/>
          </a:xfrm>
          <a:prstGeom prst="roundRect">
            <a:avLst>
              <a:gd name="adj" fmla="val 42003"/>
            </a:avLst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6651" y="2634555"/>
            <a:ext cx="5476043" cy="2463006"/>
          </a:xfrm>
          <a:prstGeom prst="roundRect">
            <a:avLst>
              <a:gd name="adj" fmla="val 5526"/>
            </a:avLst>
          </a:prstGeom>
          <a:solidFill>
            <a:srgbClr val="0F766E">
              <a:alpha val="9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85658" y="282356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Post-Session Task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3307854"/>
            <a:ext cx="5098029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Solo Challenge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second PR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intentionally encounter and resolve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second merge conflict.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85658" y="4597797"/>
            <a:ext cx="1895527" cy="287139"/>
          </a:xfrm>
          <a:prstGeom prst="roundRect">
            <a:avLst>
              <a:gd name="adj" fmla="val 22118"/>
            </a:avLst>
          </a:pr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99062" y="4654451"/>
            <a:ext cx="227830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DUE BEFORE SESSION 2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074" cy="68580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53" y="799207"/>
            <a:ext cx="3944541" cy="5259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89472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You now know the professional GitHub workflow.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5233360" y="421848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8F8F8F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Branch → Commit → PR → Review → Resolve → Merge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780756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8F8F8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233360" y="506601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Next up: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8F8F8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Session 16 — Advanced Rebase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2026-08-19T10:45:25Z</dcterms:created>
  <dcterms:modified xsi:type="dcterms:W3CDTF">2026-08-19T10:45:25Z</dcterms:modified>
</cp:coreProperties>
</file>